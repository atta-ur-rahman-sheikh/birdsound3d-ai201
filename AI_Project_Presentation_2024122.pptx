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20B0003030101060003"/>
      <p:regular r:id="rId14"/>
    </p:embeddedFont>
    <p:embeddedFont>
      <p:font typeface="Livvic Semi-Bold" charset="1" panose="00000000000000000000"/>
      <p:regular r:id="rId15"/>
    </p:embeddedFont>
    <p:embeddedFont>
      <p:font typeface="Livvic" charset="1" panose="00000000000000000000"/>
      <p:regular r:id="rId16"/>
    </p:embeddedFont>
    <p:embeddedFont>
      <p:font typeface="Livvic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3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86789" y="-1318012"/>
            <a:ext cx="5314122" cy="4114800"/>
          </a:xfrm>
          <a:custGeom>
            <a:avLst/>
            <a:gdLst/>
            <a:ahLst/>
            <a:cxnLst/>
            <a:rect r="r" b="b" t="t" l="l"/>
            <a:pathLst>
              <a:path h="4114800" w="5314122">
                <a:moveTo>
                  <a:pt x="0" y="0"/>
                </a:moveTo>
                <a:lnTo>
                  <a:pt x="5314122" y="0"/>
                </a:lnTo>
                <a:lnTo>
                  <a:pt x="53141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2224" y="5323992"/>
            <a:ext cx="2688818" cy="2081990"/>
          </a:xfrm>
          <a:custGeom>
            <a:avLst/>
            <a:gdLst/>
            <a:ahLst/>
            <a:cxnLst/>
            <a:rect r="r" b="b" t="t" l="l"/>
            <a:pathLst>
              <a:path h="2081990" w="2688818">
                <a:moveTo>
                  <a:pt x="0" y="0"/>
                </a:moveTo>
                <a:lnTo>
                  <a:pt x="2688817" y="0"/>
                </a:lnTo>
                <a:lnTo>
                  <a:pt x="2688817" y="2081990"/>
                </a:lnTo>
                <a:lnTo>
                  <a:pt x="0" y="2081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14590" y="2688963"/>
            <a:ext cx="2906400" cy="2250467"/>
          </a:xfrm>
          <a:custGeom>
            <a:avLst/>
            <a:gdLst/>
            <a:ahLst/>
            <a:cxnLst/>
            <a:rect r="r" b="b" t="t" l="l"/>
            <a:pathLst>
              <a:path h="2250467" w="2906400">
                <a:moveTo>
                  <a:pt x="0" y="0"/>
                </a:moveTo>
                <a:lnTo>
                  <a:pt x="2906400" y="0"/>
                </a:lnTo>
                <a:lnTo>
                  <a:pt x="2906400" y="2250467"/>
                </a:lnTo>
                <a:lnTo>
                  <a:pt x="0" y="2250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4995" y="7225490"/>
            <a:ext cx="5250608" cy="4065621"/>
          </a:xfrm>
          <a:custGeom>
            <a:avLst/>
            <a:gdLst/>
            <a:ahLst/>
            <a:cxnLst/>
            <a:rect r="r" b="b" t="t" l="l"/>
            <a:pathLst>
              <a:path h="4065621" w="5250608">
                <a:moveTo>
                  <a:pt x="0" y="0"/>
                </a:moveTo>
                <a:lnTo>
                  <a:pt x="5250608" y="0"/>
                </a:lnTo>
                <a:lnTo>
                  <a:pt x="5250608" y="4065620"/>
                </a:lnTo>
                <a:lnTo>
                  <a:pt x="0" y="40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3980" y="335973"/>
            <a:ext cx="801238" cy="800238"/>
          </a:xfrm>
          <a:custGeom>
            <a:avLst/>
            <a:gdLst/>
            <a:ahLst/>
            <a:cxnLst/>
            <a:rect r="r" b="b" t="t" l="l"/>
            <a:pathLst>
              <a:path h="800238" w="801238">
                <a:moveTo>
                  <a:pt x="0" y="0"/>
                </a:moveTo>
                <a:lnTo>
                  <a:pt x="801238" y="0"/>
                </a:lnTo>
                <a:lnTo>
                  <a:pt x="801238" y="800238"/>
                </a:lnTo>
                <a:lnTo>
                  <a:pt x="0" y="800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62100" y="6352853"/>
            <a:ext cx="2218068" cy="2215299"/>
          </a:xfrm>
          <a:custGeom>
            <a:avLst/>
            <a:gdLst/>
            <a:ahLst/>
            <a:cxnLst/>
            <a:rect r="r" b="b" t="t" l="l"/>
            <a:pathLst>
              <a:path h="2215299" w="2218068">
                <a:moveTo>
                  <a:pt x="0" y="0"/>
                </a:moveTo>
                <a:lnTo>
                  <a:pt x="2218068" y="0"/>
                </a:lnTo>
                <a:lnTo>
                  <a:pt x="2218068" y="2215299"/>
                </a:lnTo>
                <a:lnTo>
                  <a:pt x="0" y="2215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75043" y="9330606"/>
            <a:ext cx="768513" cy="767554"/>
          </a:xfrm>
          <a:custGeom>
            <a:avLst/>
            <a:gdLst/>
            <a:ahLst/>
            <a:cxnLst/>
            <a:rect r="r" b="b" t="t" l="l"/>
            <a:pathLst>
              <a:path h="767554" w="768513">
                <a:moveTo>
                  <a:pt x="0" y="0"/>
                </a:moveTo>
                <a:lnTo>
                  <a:pt x="768514" y="0"/>
                </a:lnTo>
                <a:lnTo>
                  <a:pt x="768514" y="767554"/>
                </a:lnTo>
                <a:lnTo>
                  <a:pt x="0" y="767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24243" y="1539404"/>
            <a:ext cx="2054031" cy="2051467"/>
          </a:xfrm>
          <a:custGeom>
            <a:avLst/>
            <a:gdLst/>
            <a:ahLst/>
            <a:cxnLst/>
            <a:rect r="r" b="b" t="t" l="l"/>
            <a:pathLst>
              <a:path h="2051467" w="2054031">
                <a:moveTo>
                  <a:pt x="0" y="0"/>
                </a:moveTo>
                <a:lnTo>
                  <a:pt x="2054031" y="0"/>
                </a:lnTo>
                <a:lnTo>
                  <a:pt x="2054031" y="2051467"/>
                </a:lnTo>
                <a:lnTo>
                  <a:pt x="0" y="20514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58364" y="4214246"/>
            <a:ext cx="12371272" cy="203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4"/>
              </a:lnSpc>
            </a:pPr>
            <a:r>
              <a:rPr lang="en-US" b="true" sz="6150" spc="-418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INTERACTIVE SPECTROGRAPHIC MODELING AND AI CLASSIFICATION OF BIRD CALLS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86740" y="6402920"/>
            <a:ext cx="6114520" cy="61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2820" b="true">
                <a:solidFill>
                  <a:srgbClr val="584B41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Made by Atta Ur Rahman</a:t>
            </a:r>
          </a:p>
          <a:p>
            <a:pPr algn="ctr">
              <a:lnSpc>
                <a:spcPts val="2341"/>
              </a:lnSpc>
            </a:pPr>
            <a:r>
              <a:rPr lang="en-US" b="true" sz="2820">
                <a:solidFill>
                  <a:srgbClr val="584B41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2024122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046639">
            <a:off x="936363" y="4097331"/>
            <a:ext cx="3698410" cy="2863731"/>
          </a:xfrm>
          <a:custGeom>
            <a:avLst/>
            <a:gdLst/>
            <a:ahLst/>
            <a:cxnLst/>
            <a:rect r="r" b="b" t="t" l="l"/>
            <a:pathLst>
              <a:path h="2863731" w="3698410">
                <a:moveTo>
                  <a:pt x="0" y="0"/>
                </a:moveTo>
                <a:lnTo>
                  <a:pt x="3698409" y="0"/>
                </a:lnTo>
                <a:lnTo>
                  <a:pt x="3698409" y="2863731"/>
                </a:lnTo>
                <a:lnTo>
                  <a:pt x="0" y="286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353139">
            <a:off x="13503936" y="3838324"/>
            <a:ext cx="3933930" cy="3046098"/>
          </a:xfrm>
          <a:custGeom>
            <a:avLst/>
            <a:gdLst/>
            <a:ahLst/>
            <a:cxnLst/>
            <a:rect r="r" b="b" t="t" l="l"/>
            <a:pathLst>
              <a:path h="3046098" w="3933930">
                <a:moveTo>
                  <a:pt x="3933930" y="0"/>
                </a:moveTo>
                <a:lnTo>
                  <a:pt x="0" y="0"/>
                </a:lnTo>
                <a:lnTo>
                  <a:pt x="0" y="3046098"/>
                </a:lnTo>
                <a:lnTo>
                  <a:pt x="3933930" y="3046098"/>
                </a:lnTo>
                <a:lnTo>
                  <a:pt x="39339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046639">
            <a:off x="1807436" y="3716677"/>
            <a:ext cx="2636235" cy="2041274"/>
          </a:xfrm>
          <a:custGeom>
            <a:avLst/>
            <a:gdLst/>
            <a:ahLst/>
            <a:cxnLst/>
            <a:rect r="r" b="b" t="t" l="l"/>
            <a:pathLst>
              <a:path h="2041274" w="2636235">
                <a:moveTo>
                  <a:pt x="0" y="0"/>
                </a:moveTo>
                <a:lnTo>
                  <a:pt x="2636235" y="0"/>
                </a:lnTo>
                <a:lnTo>
                  <a:pt x="2636235" y="2041274"/>
                </a:lnTo>
                <a:lnTo>
                  <a:pt x="0" y="2041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353139">
            <a:off x="13605081" y="3465241"/>
            <a:ext cx="2804114" cy="2171265"/>
          </a:xfrm>
          <a:custGeom>
            <a:avLst/>
            <a:gdLst/>
            <a:ahLst/>
            <a:cxnLst/>
            <a:rect r="r" b="b" t="t" l="l"/>
            <a:pathLst>
              <a:path h="2171265" w="2804114">
                <a:moveTo>
                  <a:pt x="2804114" y="0"/>
                </a:moveTo>
                <a:lnTo>
                  <a:pt x="0" y="0"/>
                </a:lnTo>
                <a:lnTo>
                  <a:pt x="0" y="2171265"/>
                </a:lnTo>
                <a:lnTo>
                  <a:pt x="2804114" y="2171265"/>
                </a:lnTo>
                <a:lnTo>
                  <a:pt x="28041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046639">
            <a:off x="1099535" y="3519986"/>
            <a:ext cx="555014" cy="554321"/>
          </a:xfrm>
          <a:custGeom>
            <a:avLst/>
            <a:gdLst/>
            <a:ahLst/>
            <a:cxnLst/>
            <a:rect r="r" b="b" t="t" l="l"/>
            <a:pathLst>
              <a:path h="554321" w="555014">
                <a:moveTo>
                  <a:pt x="0" y="0"/>
                </a:moveTo>
                <a:lnTo>
                  <a:pt x="555014" y="0"/>
                </a:lnTo>
                <a:lnTo>
                  <a:pt x="555014" y="554321"/>
                </a:lnTo>
                <a:lnTo>
                  <a:pt x="0" y="554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353139">
            <a:off x="16503952" y="3098131"/>
            <a:ext cx="590358" cy="589621"/>
          </a:xfrm>
          <a:custGeom>
            <a:avLst/>
            <a:gdLst/>
            <a:ahLst/>
            <a:cxnLst/>
            <a:rect r="r" b="b" t="t" l="l"/>
            <a:pathLst>
              <a:path h="589621" w="590358">
                <a:moveTo>
                  <a:pt x="0" y="0"/>
                </a:moveTo>
                <a:lnTo>
                  <a:pt x="590358" y="0"/>
                </a:lnTo>
                <a:lnTo>
                  <a:pt x="590358" y="589621"/>
                </a:lnTo>
                <a:lnTo>
                  <a:pt x="0" y="5896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046639">
            <a:off x="1913073" y="3141303"/>
            <a:ext cx="413448" cy="412932"/>
          </a:xfrm>
          <a:custGeom>
            <a:avLst/>
            <a:gdLst/>
            <a:ahLst/>
            <a:cxnLst/>
            <a:rect r="r" b="b" t="t" l="l"/>
            <a:pathLst>
              <a:path h="412932" w="413448">
                <a:moveTo>
                  <a:pt x="0" y="0"/>
                </a:moveTo>
                <a:lnTo>
                  <a:pt x="413448" y="0"/>
                </a:lnTo>
                <a:lnTo>
                  <a:pt x="413448" y="412932"/>
                </a:lnTo>
                <a:lnTo>
                  <a:pt x="0" y="4129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353139">
            <a:off x="15717387" y="2984826"/>
            <a:ext cx="439777" cy="439228"/>
          </a:xfrm>
          <a:custGeom>
            <a:avLst/>
            <a:gdLst/>
            <a:ahLst/>
            <a:cxnLst/>
            <a:rect r="r" b="b" t="t" l="l"/>
            <a:pathLst>
              <a:path h="439228" w="439777">
                <a:moveTo>
                  <a:pt x="0" y="0"/>
                </a:moveTo>
                <a:lnTo>
                  <a:pt x="439777" y="0"/>
                </a:lnTo>
                <a:lnTo>
                  <a:pt x="439777" y="439228"/>
                </a:lnTo>
                <a:lnTo>
                  <a:pt x="0" y="4392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40100" y="1228725"/>
            <a:ext cx="7493910" cy="138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1"/>
              </a:lnSpc>
            </a:pPr>
            <a:r>
              <a:rPr lang="en-US" b="true" sz="6158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60279" y="2772165"/>
            <a:ext cx="7704378" cy="653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955" indent="-357977" lvl="1">
              <a:lnSpc>
                <a:spcPts val="3680"/>
              </a:lnSpc>
              <a:buFont typeface="Arial"/>
              <a:buChar char="•"/>
            </a:pPr>
            <a:r>
              <a:rPr lang="en-US" sz="33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Bird calls are important indicators of </a:t>
            </a:r>
            <a:r>
              <a:rPr lang="en-US" b="true" sz="3316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biodiversity </a:t>
            </a:r>
            <a:r>
              <a:rPr lang="en-US" sz="33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and </a:t>
            </a:r>
            <a:r>
              <a:rPr lang="en-US" b="true" sz="3316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ecosystem health</a:t>
            </a:r>
          </a:p>
          <a:p>
            <a:pPr algn="l" marL="715955" indent="-357977" lvl="1">
              <a:lnSpc>
                <a:spcPts val="3680"/>
              </a:lnSpc>
              <a:buFont typeface="Arial"/>
              <a:buChar char="•"/>
            </a:pPr>
            <a:r>
              <a:rPr lang="en-US" sz="33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Manual identification of bird species from audio is:</a:t>
            </a:r>
          </a:p>
          <a:p>
            <a:pPr algn="l" marL="1431909" indent="-477303" lvl="2">
              <a:lnSpc>
                <a:spcPts val="3680"/>
              </a:lnSpc>
              <a:buFont typeface="Arial"/>
              <a:buChar char="⚬"/>
            </a:pPr>
            <a:r>
              <a:rPr lang="en-US" b="true" sz="3316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Time-consuming</a:t>
            </a:r>
          </a:p>
          <a:p>
            <a:pPr algn="l" marL="1431909" indent="-477303" lvl="2">
              <a:lnSpc>
                <a:spcPts val="3680"/>
              </a:lnSpc>
              <a:buFont typeface="Arial"/>
              <a:buChar char="⚬"/>
            </a:pPr>
            <a:r>
              <a:rPr lang="en-US" b="true" sz="3316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Inconsistent</a:t>
            </a:r>
          </a:p>
          <a:p>
            <a:pPr algn="l" marL="1431909" indent="-477303" lvl="2">
              <a:lnSpc>
                <a:spcPts val="3680"/>
              </a:lnSpc>
              <a:buFont typeface="Arial"/>
              <a:buChar char="⚬"/>
            </a:pPr>
            <a:r>
              <a:rPr lang="en-US" b="true" sz="3316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Requires expert knowledge</a:t>
            </a:r>
          </a:p>
          <a:p>
            <a:pPr algn="l" marL="715955" indent="-357977" lvl="1">
              <a:lnSpc>
                <a:spcPts val="3680"/>
              </a:lnSpc>
              <a:buFont typeface="Arial"/>
              <a:buChar char="•"/>
            </a:pPr>
            <a:r>
              <a:rPr lang="en-US" sz="33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Existing tools mostly focus on classification</a:t>
            </a:r>
          </a:p>
          <a:p>
            <a:pPr algn="l" marL="715955" indent="-357977" lvl="1">
              <a:lnSpc>
                <a:spcPts val="3680"/>
              </a:lnSpc>
              <a:buFont typeface="Arial"/>
              <a:buChar char="•"/>
            </a:pPr>
            <a:r>
              <a:rPr lang="en-US" sz="33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Limited visual insight into bird call structures</a:t>
            </a:r>
          </a:p>
          <a:p>
            <a:pPr algn="l">
              <a:lnSpc>
                <a:spcPts val="3680"/>
              </a:lnSpc>
            </a:pPr>
            <a:r>
              <a:rPr lang="en-US" sz="33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Need: A system that combines </a:t>
            </a:r>
            <a:r>
              <a:rPr lang="en-US" sz="3316" b="true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visual analysis + AI classification</a:t>
            </a:r>
          </a:p>
          <a:p>
            <a:pPr algn="l">
              <a:lnSpc>
                <a:spcPts val="36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046639">
            <a:off x="936363" y="4097331"/>
            <a:ext cx="3698410" cy="2863731"/>
          </a:xfrm>
          <a:custGeom>
            <a:avLst/>
            <a:gdLst/>
            <a:ahLst/>
            <a:cxnLst/>
            <a:rect r="r" b="b" t="t" l="l"/>
            <a:pathLst>
              <a:path h="2863731" w="3698410">
                <a:moveTo>
                  <a:pt x="0" y="0"/>
                </a:moveTo>
                <a:lnTo>
                  <a:pt x="3698409" y="0"/>
                </a:lnTo>
                <a:lnTo>
                  <a:pt x="3698409" y="2863731"/>
                </a:lnTo>
                <a:lnTo>
                  <a:pt x="0" y="286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353139">
            <a:off x="13503936" y="3838324"/>
            <a:ext cx="3933930" cy="3046098"/>
          </a:xfrm>
          <a:custGeom>
            <a:avLst/>
            <a:gdLst/>
            <a:ahLst/>
            <a:cxnLst/>
            <a:rect r="r" b="b" t="t" l="l"/>
            <a:pathLst>
              <a:path h="3046098" w="3933930">
                <a:moveTo>
                  <a:pt x="3933930" y="0"/>
                </a:moveTo>
                <a:lnTo>
                  <a:pt x="0" y="0"/>
                </a:lnTo>
                <a:lnTo>
                  <a:pt x="0" y="3046098"/>
                </a:lnTo>
                <a:lnTo>
                  <a:pt x="3933930" y="3046098"/>
                </a:lnTo>
                <a:lnTo>
                  <a:pt x="39339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046639">
            <a:off x="1807436" y="3716677"/>
            <a:ext cx="2636235" cy="2041274"/>
          </a:xfrm>
          <a:custGeom>
            <a:avLst/>
            <a:gdLst/>
            <a:ahLst/>
            <a:cxnLst/>
            <a:rect r="r" b="b" t="t" l="l"/>
            <a:pathLst>
              <a:path h="2041274" w="2636235">
                <a:moveTo>
                  <a:pt x="0" y="0"/>
                </a:moveTo>
                <a:lnTo>
                  <a:pt x="2636235" y="0"/>
                </a:lnTo>
                <a:lnTo>
                  <a:pt x="2636235" y="2041274"/>
                </a:lnTo>
                <a:lnTo>
                  <a:pt x="0" y="2041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353139">
            <a:off x="13605081" y="3465241"/>
            <a:ext cx="2804114" cy="2171265"/>
          </a:xfrm>
          <a:custGeom>
            <a:avLst/>
            <a:gdLst/>
            <a:ahLst/>
            <a:cxnLst/>
            <a:rect r="r" b="b" t="t" l="l"/>
            <a:pathLst>
              <a:path h="2171265" w="2804114">
                <a:moveTo>
                  <a:pt x="2804114" y="0"/>
                </a:moveTo>
                <a:lnTo>
                  <a:pt x="0" y="0"/>
                </a:lnTo>
                <a:lnTo>
                  <a:pt x="0" y="2171265"/>
                </a:lnTo>
                <a:lnTo>
                  <a:pt x="2804114" y="2171265"/>
                </a:lnTo>
                <a:lnTo>
                  <a:pt x="28041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046639">
            <a:off x="1099535" y="3519986"/>
            <a:ext cx="555014" cy="554321"/>
          </a:xfrm>
          <a:custGeom>
            <a:avLst/>
            <a:gdLst/>
            <a:ahLst/>
            <a:cxnLst/>
            <a:rect r="r" b="b" t="t" l="l"/>
            <a:pathLst>
              <a:path h="554321" w="555014">
                <a:moveTo>
                  <a:pt x="0" y="0"/>
                </a:moveTo>
                <a:lnTo>
                  <a:pt x="555014" y="0"/>
                </a:lnTo>
                <a:lnTo>
                  <a:pt x="555014" y="554321"/>
                </a:lnTo>
                <a:lnTo>
                  <a:pt x="0" y="554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353139">
            <a:off x="16503952" y="3098131"/>
            <a:ext cx="590358" cy="589621"/>
          </a:xfrm>
          <a:custGeom>
            <a:avLst/>
            <a:gdLst/>
            <a:ahLst/>
            <a:cxnLst/>
            <a:rect r="r" b="b" t="t" l="l"/>
            <a:pathLst>
              <a:path h="589621" w="590358">
                <a:moveTo>
                  <a:pt x="0" y="0"/>
                </a:moveTo>
                <a:lnTo>
                  <a:pt x="590358" y="0"/>
                </a:lnTo>
                <a:lnTo>
                  <a:pt x="590358" y="589621"/>
                </a:lnTo>
                <a:lnTo>
                  <a:pt x="0" y="5896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046639">
            <a:off x="1913073" y="3141303"/>
            <a:ext cx="413448" cy="412932"/>
          </a:xfrm>
          <a:custGeom>
            <a:avLst/>
            <a:gdLst/>
            <a:ahLst/>
            <a:cxnLst/>
            <a:rect r="r" b="b" t="t" l="l"/>
            <a:pathLst>
              <a:path h="412932" w="413448">
                <a:moveTo>
                  <a:pt x="0" y="0"/>
                </a:moveTo>
                <a:lnTo>
                  <a:pt x="413448" y="0"/>
                </a:lnTo>
                <a:lnTo>
                  <a:pt x="413448" y="412932"/>
                </a:lnTo>
                <a:lnTo>
                  <a:pt x="0" y="4129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353139">
            <a:off x="15717387" y="2984826"/>
            <a:ext cx="439777" cy="439228"/>
          </a:xfrm>
          <a:custGeom>
            <a:avLst/>
            <a:gdLst/>
            <a:ahLst/>
            <a:cxnLst/>
            <a:rect r="r" b="b" t="t" l="l"/>
            <a:pathLst>
              <a:path h="439228" w="439777">
                <a:moveTo>
                  <a:pt x="0" y="0"/>
                </a:moveTo>
                <a:lnTo>
                  <a:pt x="439777" y="0"/>
                </a:lnTo>
                <a:lnTo>
                  <a:pt x="439777" y="439228"/>
                </a:lnTo>
                <a:lnTo>
                  <a:pt x="0" y="4392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40100" y="1228725"/>
            <a:ext cx="7493910" cy="138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1"/>
              </a:lnSpc>
            </a:pPr>
            <a:r>
              <a:rPr lang="en-US" b="true" sz="6158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PROJECT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34866" y="2986752"/>
            <a:ext cx="7704378" cy="481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3902" indent="-411951" lvl="1">
              <a:lnSpc>
                <a:spcPts val="4235"/>
              </a:lnSpc>
              <a:buFont typeface="Arial"/>
              <a:buChar char="•"/>
            </a:pP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Preprocess bird call audio data</a:t>
            </a:r>
          </a:p>
          <a:p>
            <a:pPr algn="l" marL="823902" indent="-411951" lvl="1">
              <a:lnSpc>
                <a:spcPts val="4235"/>
              </a:lnSpc>
              <a:buFont typeface="Arial"/>
              <a:buChar char="•"/>
            </a:pP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Extract m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e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an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i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ngful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audi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o 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f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eat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ures</a:t>
            </a:r>
          </a:p>
          <a:p>
            <a:pPr algn="l" marL="823902" indent="-411951" lvl="1">
              <a:lnSpc>
                <a:spcPts val="4235"/>
              </a:lnSpc>
              <a:buFont typeface="Arial"/>
              <a:buChar char="•"/>
            </a:pP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Vis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ualize bird calls us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ing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i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n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te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rac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ti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v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e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 3D 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spe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c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t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r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o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grams</a:t>
            </a:r>
          </a:p>
          <a:p>
            <a:pPr algn="l" marL="823902" indent="-411951" lvl="1">
              <a:lnSpc>
                <a:spcPts val="4235"/>
              </a:lnSpc>
              <a:buFont typeface="Arial"/>
              <a:buChar char="•"/>
            </a:pP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Classify bird species using machine learning</a:t>
            </a:r>
          </a:p>
          <a:p>
            <a:pPr algn="l" marL="823902" indent="-411951" lvl="1">
              <a:lnSpc>
                <a:spcPts val="4235"/>
              </a:lnSpc>
              <a:buFont typeface="Arial"/>
              <a:buChar char="•"/>
            </a:pP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Provide a simple and user-frie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n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d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ly i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nter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fa</a:t>
            </a:r>
            <a:r>
              <a:rPr lang="en-US" sz="3816">
                <a:solidFill>
                  <a:srgbClr val="642636"/>
                </a:solidFill>
                <a:latin typeface="Livvic"/>
                <a:ea typeface="Livvic"/>
                <a:cs typeface="Livvic"/>
                <a:sym typeface="Livvic"/>
              </a:rPr>
              <a:t>ce</a:t>
            </a:r>
          </a:p>
        </p:txBody>
      </p:sp>
    </p:spTree>
  </p:cSld>
  <p:clrMapOvr>
    <a:masterClrMapping/>
  </p:clrMapOvr>
  <p:transition spd="fast">
    <p:circl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36993" y="6694426"/>
            <a:ext cx="5808926" cy="4497934"/>
          </a:xfrm>
          <a:custGeom>
            <a:avLst/>
            <a:gdLst/>
            <a:ahLst/>
            <a:cxnLst/>
            <a:rect r="r" b="b" t="t" l="l"/>
            <a:pathLst>
              <a:path h="4497934" w="5808926">
                <a:moveTo>
                  <a:pt x="0" y="0"/>
                </a:moveTo>
                <a:lnTo>
                  <a:pt x="5808926" y="0"/>
                </a:lnTo>
                <a:lnTo>
                  <a:pt x="5808926" y="4497934"/>
                </a:lnTo>
                <a:lnTo>
                  <a:pt x="0" y="4497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11388" y="-866279"/>
            <a:ext cx="5581278" cy="4321663"/>
          </a:xfrm>
          <a:custGeom>
            <a:avLst/>
            <a:gdLst/>
            <a:ahLst/>
            <a:cxnLst/>
            <a:rect r="r" b="b" t="t" l="l"/>
            <a:pathLst>
              <a:path h="4321663" w="5581278">
                <a:moveTo>
                  <a:pt x="0" y="0"/>
                </a:moveTo>
                <a:lnTo>
                  <a:pt x="5581278" y="0"/>
                </a:lnTo>
                <a:lnTo>
                  <a:pt x="5581278" y="4321663"/>
                </a:lnTo>
                <a:lnTo>
                  <a:pt x="0" y="43216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53615" y="4725667"/>
            <a:ext cx="1246248" cy="953380"/>
          </a:xfrm>
          <a:custGeom>
            <a:avLst/>
            <a:gdLst/>
            <a:ahLst/>
            <a:cxnLst/>
            <a:rect r="r" b="b" t="t" l="l"/>
            <a:pathLst>
              <a:path h="953380" w="1246248">
                <a:moveTo>
                  <a:pt x="0" y="0"/>
                </a:moveTo>
                <a:lnTo>
                  <a:pt x="1246249" y="0"/>
                </a:lnTo>
                <a:lnTo>
                  <a:pt x="1246249" y="953380"/>
                </a:lnTo>
                <a:lnTo>
                  <a:pt x="0" y="953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861522" y="5311950"/>
            <a:ext cx="3030435" cy="1515217"/>
          </a:xfrm>
          <a:custGeom>
            <a:avLst/>
            <a:gdLst/>
            <a:ahLst/>
            <a:cxnLst/>
            <a:rect r="r" b="b" t="t" l="l"/>
            <a:pathLst>
              <a:path h="1515217" w="3030435">
                <a:moveTo>
                  <a:pt x="0" y="1515217"/>
                </a:moveTo>
                <a:lnTo>
                  <a:pt x="3030435" y="1515217"/>
                </a:lnTo>
                <a:lnTo>
                  <a:pt x="3030435" y="0"/>
                </a:lnTo>
                <a:lnTo>
                  <a:pt x="0" y="0"/>
                </a:lnTo>
                <a:lnTo>
                  <a:pt x="0" y="15152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7661197" y="5311950"/>
            <a:ext cx="3030435" cy="1515217"/>
          </a:xfrm>
          <a:custGeom>
            <a:avLst/>
            <a:gdLst/>
            <a:ahLst/>
            <a:cxnLst/>
            <a:rect r="r" b="b" t="t" l="l"/>
            <a:pathLst>
              <a:path h="1515217" w="3030435">
                <a:moveTo>
                  <a:pt x="0" y="1515217"/>
                </a:moveTo>
                <a:lnTo>
                  <a:pt x="3030435" y="1515217"/>
                </a:lnTo>
                <a:lnTo>
                  <a:pt x="3030435" y="0"/>
                </a:lnTo>
                <a:lnTo>
                  <a:pt x="0" y="0"/>
                </a:lnTo>
                <a:lnTo>
                  <a:pt x="0" y="15152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23569" y="3458694"/>
            <a:ext cx="3030435" cy="1515217"/>
          </a:xfrm>
          <a:custGeom>
            <a:avLst/>
            <a:gdLst/>
            <a:ahLst/>
            <a:cxnLst/>
            <a:rect r="r" b="b" t="t" l="l"/>
            <a:pathLst>
              <a:path h="1515217" w="3030435">
                <a:moveTo>
                  <a:pt x="0" y="0"/>
                </a:moveTo>
                <a:lnTo>
                  <a:pt x="3030435" y="0"/>
                </a:lnTo>
                <a:lnTo>
                  <a:pt x="3030435" y="1515217"/>
                </a:lnTo>
                <a:lnTo>
                  <a:pt x="0" y="15152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7462216" y="4841990"/>
            <a:ext cx="603608" cy="602855"/>
          </a:xfrm>
          <a:custGeom>
            <a:avLst/>
            <a:gdLst/>
            <a:ahLst/>
            <a:cxnLst/>
            <a:rect r="r" b="b" t="t" l="l"/>
            <a:pathLst>
              <a:path h="602855" w="603608">
                <a:moveTo>
                  <a:pt x="0" y="0"/>
                </a:moveTo>
                <a:lnTo>
                  <a:pt x="603608" y="0"/>
                </a:lnTo>
                <a:lnTo>
                  <a:pt x="603608" y="602854"/>
                </a:lnTo>
                <a:lnTo>
                  <a:pt x="0" y="6028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19843" y="4841990"/>
            <a:ext cx="603608" cy="602855"/>
          </a:xfrm>
          <a:custGeom>
            <a:avLst/>
            <a:gdLst/>
            <a:ahLst/>
            <a:cxnLst/>
            <a:rect r="r" b="b" t="t" l="l"/>
            <a:pathLst>
              <a:path h="602855" w="603608">
                <a:moveTo>
                  <a:pt x="0" y="0"/>
                </a:moveTo>
                <a:lnTo>
                  <a:pt x="603608" y="0"/>
                </a:lnTo>
                <a:lnTo>
                  <a:pt x="603608" y="602854"/>
                </a:lnTo>
                <a:lnTo>
                  <a:pt x="0" y="6028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4534769" y="4841990"/>
            <a:ext cx="603608" cy="602855"/>
          </a:xfrm>
          <a:custGeom>
            <a:avLst/>
            <a:gdLst/>
            <a:ahLst/>
            <a:cxnLst/>
            <a:rect r="r" b="b" t="t" l="l"/>
            <a:pathLst>
              <a:path h="602855" w="603608">
                <a:moveTo>
                  <a:pt x="0" y="0"/>
                </a:moveTo>
                <a:lnTo>
                  <a:pt x="603608" y="0"/>
                </a:lnTo>
                <a:lnTo>
                  <a:pt x="603608" y="602854"/>
                </a:lnTo>
                <a:lnTo>
                  <a:pt x="0" y="602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0299659" y="4841990"/>
            <a:ext cx="603608" cy="602855"/>
          </a:xfrm>
          <a:custGeom>
            <a:avLst/>
            <a:gdLst/>
            <a:ahLst/>
            <a:cxnLst/>
            <a:rect r="r" b="b" t="t" l="l"/>
            <a:pathLst>
              <a:path h="602855" w="603608">
                <a:moveTo>
                  <a:pt x="0" y="0"/>
                </a:moveTo>
                <a:lnTo>
                  <a:pt x="603608" y="0"/>
                </a:lnTo>
                <a:lnTo>
                  <a:pt x="603608" y="602854"/>
                </a:lnTo>
                <a:lnTo>
                  <a:pt x="0" y="602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3426087" y="5308640"/>
            <a:ext cx="3030435" cy="1515217"/>
          </a:xfrm>
          <a:custGeom>
            <a:avLst/>
            <a:gdLst/>
            <a:ahLst/>
            <a:cxnLst/>
            <a:rect r="r" b="b" t="t" l="l"/>
            <a:pathLst>
              <a:path h="1515217" w="3030435">
                <a:moveTo>
                  <a:pt x="0" y="1515217"/>
                </a:moveTo>
                <a:lnTo>
                  <a:pt x="3030435" y="1515217"/>
                </a:lnTo>
                <a:lnTo>
                  <a:pt x="3030435" y="0"/>
                </a:lnTo>
                <a:lnTo>
                  <a:pt x="0" y="0"/>
                </a:lnTo>
                <a:lnTo>
                  <a:pt x="0" y="15152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88459" y="3455384"/>
            <a:ext cx="3030435" cy="1515217"/>
          </a:xfrm>
          <a:custGeom>
            <a:avLst/>
            <a:gdLst/>
            <a:ahLst/>
            <a:cxnLst/>
            <a:rect r="r" b="b" t="t" l="l"/>
            <a:pathLst>
              <a:path h="1515217" w="3030435">
                <a:moveTo>
                  <a:pt x="0" y="0"/>
                </a:moveTo>
                <a:lnTo>
                  <a:pt x="3030435" y="0"/>
                </a:lnTo>
                <a:lnTo>
                  <a:pt x="3030435" y="1515217"/>
                </a:lnTo>
                <a:lnTo>
                  <a:pt x="0" y="15152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3227106" y="4838680"/>
            <a:ext cx="603608" cy="602855"/>
          </a:xfrm>
          <a:custGeom>
            <a:avLst/>
            <a:gdLst/>
            <a:ahLst/>
            <a:cxnLst/>
            <a:rect r="r" b="b" t="t" l="l"/>
            <a:pathLst>
              <a:path h="602855" w="603608">
                <a:moveTo>
                  <a:pt x="0" y="0"/>
                </a:moveTo>
                <a:lnTo>
                  <a:pt x="603608" y="0"/>
                </a:lnTo>
                <a:lnTo>
                  <a:pt x="603608" y="602854"/>
                </a:lnTo>
                <a:lnTo>
                  <a:pt x="0" y="6028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0299659" y="4838680"/>
            <a:ext cx="603608" cy="602855"/>
          </a:xfrm>
          <a:custGeom>
            <a:avLst/>
            <a:gdLst/>
            <a:ahLst/>
            <a:cxnLst/>
            <a:rect r="r" b="b" t="t" l="l"/>
            <a:pathLst>
              <a:path h="602855" w="603608">
                <a:moveTo>
                  <a:pt x="0" y="0"/>
                </a:moveTo>
                <a:lnTo>
                  <a:pt x="603608" y="0"/>
                </a:lnTo>
                <a:lnTo>
                  <a:pt x="603608" y="602854"/>
                </a:lnTo>
                <a:lnTo>
                  <a:pt x="0" y="602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6064549" y="4838680"/>
            <a:ext cx="603608" cy="602855"/>
          </a:xfrm>
          <a:custGeom>
            <a:avLst/>
            <a:gdLst/>
            <a:ahLst/>
            <a:cxnLst/>
            <a:rect r="r" b="b" t="t" l="l"/>
            <a:pathLst>
              <a:path h="602855" w="603608">
                <a:moveTo>
                  <a:pt x="0" y="0"/>
                </a:moveTo>
                <a:lnTo>
                  <a:pt x="603608" y="0"/>
                </a:lnTo>
                <a:lnTo>
                  <a:pt x="603608" y="602854"/>
                </a:lnTo>
                <a:lnTo>
                  <a:pt x="0" y="602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794163" y="4765512"/>
            <a:ext cx="930229" cy="755811"/>
          </a:xfrm>
          <a:custGeom>
            <a:avLst/>
            <a:gdLst/>
            <a:ahLst/>
            <a:cxnLst/>
            <a:rect r="r" b="b" t="t" l="l"/>
            <a:pathLst>
              <a:path h="755811" w="930229">
                <a:moveTo>
                  <a:pt x="0" y="0"/>
                </a:moveTo>
                <a:lnTo>
                  <a:pt x="930228" y="0"/>
                </a:lnTo>
                <a:lnTo>
                  <a:pt x="930228" y="755810"/>
                </a:lnTo>
                <a:lnTo>
                  <a:pt x="0" y="7558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819747" y="4741933"/>
            <a:ext cx="802968" cy="802968"/>
          </a:xfrm>
          <a:custGeom>
            <a:avLst/>
            <a:gdLst/>
            <a:ahLst/>
            <a:cxnLst/>
            <a:rect r="r" b="b" t="t" l="l"/>
            <a:pathLst>
              <a:path h="802968" w="802968">
                <a:moveTo>
                  <a:pt x="0" y="0"/>
                </a:moveTo>
                <a:lnTo>
                  <a:pt x="802968" y="0"/>
                </a:lnTo>
                <a:lnTo>
                  <a:pt x="802968" y="802968"/>
                </a:lnTo>
                <a:lnTo>
                  <a:pt x="0" y="80296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542000" y="4734826"/>
            <a:ext cx="968890" cy="802968"/>
          </a:xfrm>
          <a:custGeom>
            <a:avLst/>
            <a:gdLst/>
            <a:ahLst/>
            <a:cxnLst/>
            <a:rect r="r" b="b" t="t" l="l"/>
            <a:pathLst>
              <a:path h="802968" w="968890">
                <a:moveTo>
                  <a:pt x="0" y="0"/>
                </a:moveTo>
                <a:lnTo>
                  <a:pt x="968890" y="0"/>
                </a:lnTo>
                <a:lnTo>
                  <a:pt x="968890" y="802968"/>
                </a:lnTo>
                <a:lnTo>
                  <a:pt x="0" y="8029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484537" y="4686649"/>
            <a:ext cx="913536" cy="913536"/>
          </a:xfrm>
          <a:custGeom>
            <a:avLst/>
            <a:gdLst/>
            <a:ahLst/>
            <a:cxnLst/>
            <a:rect r="r" b="b" t="t" l="l"/>
            <a:pathLst>
              <a:path h="913536" w="913536">
                <a:moveTo>
                  <a:pt x="0" y="0"/>
                </a:moveTo>
                <a:lnTo>
                  <a:pt x="913535" y="0"/>
                </a:lnTo>
                <a:lnTo>
                  <a:pt x="913535" y="913536"/>
                </a:lnTo>
                <a:lnTo>
                  <a:pt x="0" y="91353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05140" y="1228725"/>
            <a:ext cx="7277719" cy="138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1"/>
              </a:lnSpc>
            </a:pPr>
            <a:r>
              <a:rPr lang="en-US" b="true" sz="6158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METHODOLOGY OVERVIEW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05212" y="6078912"/>
            <a:ext cx="2308131" cy="74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</a:pPr>
            <a:r>
              <a:rPr lang="en-US" b="true" sz="2654">
                <a:solidFill>
                  <a:srgbClr val="584B41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Feature Extraction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22674" y="3477744"/>
            <a:ext cx="2308131" cy="74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</a:pPr>
            <a:r>
              <a:rPr lang="en-US" b="true" sz="2654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Audio Preprocessing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67166" y="3477744"/>
            <a:ext cx="2308131" cy="74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</a:pPr>
            <a:r>
              <a:rPr lang="en-US" b="true" sz="2654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3D Visualization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65154" y="6088608"/>
            <a:ext cx="2922583" cy="74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</a:pPr>
            <a:r>
              <a:rPr lang="en-US" b="true" sz="2654">
                <a:solidFill>
                  <a:srgbClr val="584B41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Machine Learning Classification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94962" y="3477744"/>
            <a:ext cx="2308131" cy="74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</a:pPr>
            <a:r>
              <a:rPr lang="en-US" b="true" sz="2654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Web Interface (Streamlit)</a:t>
            </a:r>
          </a:p>
        </p:txBody>
      </p:sp>
    </p:spTree>
  </p:cSld>
  <p:clrMapOvr>
    <a:masterClrMapping/>
  </p:clrMapOvr>
  <p:transition spd="fast">
    <p:circl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986053">
            <a:off x="13121984" y="6430841"/>
            <a:ext cx="7026926" cy="5441048"/>
          </a:xfrm>
          <a:custGeom>
            <a:avLst/>
            <a:gdLst/>
            <a:ahLst/>
            <a:cxnLst/>
            <a:rect r="r" b="b" t="t" l="l"/>
            <a:pathLst>
              <a:path h="5441048" w="7026926">
                <a:moveTo>
                  <a:pt x="0" y="0"/>
                </a:moveTo>
                <a:lnTo>
                  <a:pt x="7026926" y="0"/>
                </a:lnTo>
                <a:lnTo>
                  <a:pt x="7026926" y="5441049"/>
                </a:lnTo>
                <a:lnTo>
                  <a:pt x="0" y="5441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64098" y="4940770"/>
            <a:ext cx="8423729" cy="6522613"/>
          </a:xfrm>
          <a:custGeom>
            <a:avLst/>
            <a:gdLst/>
            <a:ahLst/>
            <a:cxnLst/>
            <a:rect r="r" b="b" t="t" l="l"/>
            <a:pathLst>
              <a:path h="6522613" w="8423729">
                <a:moveTo>
                  <a:pt x="0" y="0"/>
                </a:moveTo>
                <a:lnTo>
                  <a:pt x="8423729" y="0"/>
                </a:lnTo>
                <a:lnTo>
                  <a:pt x="8423729" y="6522613"/>
                </a:lnTo>
                <a:lnTo>
                  <a:pt x="0" y="6522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4624" y="3881232"/>
            <a:ext cx="4166279" cy="878706"/>
          </a:xfrm>
          <a:custGeom>
            <a:avLst/>
            <a:gdLst/>
            <a:ahLst/>
            <a:cxnLst/>
            <a:rect r="r" b="b" t="t" l="l"/>
            <a:pathLst>
              <a:path h="878706" w="4166279">
                <a:moveTo>
                  <a:pt x="0" y="0"/>
                </a:moveTo>
                <a:lnTo>
                  <a:pt x="4166280" y="0"/>
                </a:lnTo>
                <a:lnTo>
                  <a:pt x="4166280" y="878707"/>
                </a:lnTo>
                <a:lnTo>
                  <a:pt x="0" y="8787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3804" y="3324511"/>
            <a:ext cx="1114835" cy="1113443"/>
          </a:xfrm>
          <a:custGeom>
            <a:avLst/>
            <a:gdLst/>
            <a:ahLst/>
            <a:cxnLst/>
            <a:rect r="r" b="b" t="t" l="l"/>
            <a:pathLst>
              <a:path h="1113443" w="1114835">
                <a:moveTo>
                  <a:pt x="0" y="0"/>
                </a:moveTo>
                <a:lnTo>
                  <a:pt x="1114835" y="0"/>
                </a:lnTo>
                <a:lnTo>
                  <a:pt x="1114835" y="1113443"/>
                </a:lnTo>
                <a:lnTo>
                  <a:pt x="0" y="11134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7917" y="3881232"/>
            <a:ext cx="4166279" cy="878706"/>
          </a:xfrm>
          <a:custGeom>
            <a:avLst/>
            <a:gdLst/>
            <a:ahLst/>
            <a:cxnLst/>
            <a:rect r="r" b="b" t="t" l="l"/>
            <a:pathLst>
              <a:path h="878706" w="4166279">
                <a:moveTo>
                  <a:pt x="0" y="0"/>
                </a:moveTo>
                <a:lnTo>
                  <a:pt x="4166279" y="0"/>
                </a:lnTo>
                <a:lnTo>
                  <a:pt x="4166279" y="878707"/>
                </a:lnTo>
                <a:lnTo>
                  <a:pt x="0" y="8787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01271" y="3881232"/>
            <a:ext cx="4166279" cy="878706"/>
          </a:xfrm>
          <a:custGeom>
            <a:avLst/>
            <a:gdLst/>
            <a:ahLst/>
            <a:cxnLst/>
            <a:rect r="r" b="b" t="t" l="l"/>
            <a:pathLst>
              <a:path h="878706" w="4166279">
                <a:moveTo>
                  <a:pt x="0" y="0"/>
                </a:moveTo>
                <a:lnTo>
                  <a:pt x="4166279" y="0"/>
                </a:lnTo>
                <a:lnTo>
                  <a:pt x="4166279" y="878707"/>
                </a:lnTo>
                <a:lnTo>
                  <a:pt x="0" y="8787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66200" y="1228725"/>
            <a:ext cx="8836421" cy="138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1"/>
              </a:lnSpc>
            </a:pPr>
            <a:r>
              <a:rPr lang="en-US" b="true" sz="6158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PREPROCESSING &amp; FEATURE EXTRACTION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22329" y="4057258"/>
            <a:ext cx="3756324" cy="61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b="true" sz="2739">
                <a:solidFill>
                  <a:srgbClr val="FDE4D4"/>
                </a:solidFill>
                <a:latin typeface="Raleway Heavy"/>
                <a:ea typeface="Raleway Heavy"/>
                <a:cs typeface="Raleway Heavy"/>
                <a:sym typeface="Raleway Heavy"/>
              </a:rPr>
              <a:t>FEATURE EXTRACTION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41858" y="3324511"/>
            <a:ext cx="1114835" cy="1113443"/>
          </a:xfrm>
          <a:custGeom>
            <a:avLst/>
            <a:gdLst/>
            <a:ahLst/>
            <a:cxnLst/>
            <a:rect r="r" b="b" t="t" l="l"/>
            <a:pathLst>
              <a:path h="1113443" w="1114835">
                <a:moveTo>
                  <a:pt x="0" y="0"/>
                </a:moveTo>
                <a:lnTo>
                  <a:pt x="1114835" y="0"/>
                </a:lnTo>
                <a:lnTo>
                  <a:pt x="1114835" y="1113443"/>
                </a:lnTo>
                <a:lnTo>
                  <a:pt x="0" y="11134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76279" y="3324511"/>
            <a:ext cx="1114835" cy="1113443"/>
          </a:xfrm>
          <a:custGeom>
            <a:avLst/>
            <a:gdLst/>
            <a:ahLst/>
            <a:cxnLst/>
            <a:rect r="r" b="b" t="t" l="l"/>
            <a:pathLst>
              <a:path h="1113443" w="1114835">
                <a:moveTo>
                  <a:pt x="0" y="0"/>
                </a:moveTo>
                <a:lnTo>
                  <a:pt x="1114835" y="0"/>
                </a:lnTo>
                <a:lnTo>
                  <a:pt x="1114835" y="1113443"/>
                </a:lnTo>
                <a:lnTo>
                  <a:pt x="0" y="11134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41858" y="3686571"/>
            <a:ext cx="1114835" cy="5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b="true" sz="4588">
                <a:solidFill>
                  <a:srgbClr val="FDE4D4"/>
                </a:solidFill>
                <a:latin typeface="Raleway Heavy"/>
                <a:ea typeface="Raleway Heavy"/>
                <a:cs typeface="Raleway Heavy"/>
                <a:sym typeface="Raleway Heavy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76279" y="3686571"/>
            <a:ext cx="1114835" cy="5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b="true" sz="4588">
                <a:solidFill>
                  <a:srgbClr val="FDE4D4"/>
                </a:solidFill>
                <a:latin typeface="Raleway Heavy"/>
                <a:ea typeface="Raleway Heavy"/>
                <a:cs typeface="Raleway Heavy"/>
                <a:sym typeface="Raleway Heavy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13681" y="4181349"/>
            <a:ext cx="3410377" cy="36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3"/>
              </a:lnSpc>
            </a:pPr>
            <a:r>
              <a:rPr lang="en-US" b="true" sz="2955">
                <a:solidFill>
                  <a:srgbClr val="FDE4D4"/>
                </a:solidFill>
                <a:latin typeface="Raleway Heavy"/>
                <a:ea typeface="Raleway Heavy"/>
                <a:cs typeface="Raleway Heavy"/>
                <a:sym typeface="Raleway Heavy"/>
              </a:rPr>
              <a:t>PREPROCESSING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3804" y="3686571"/>
            <a:ext cx="1114835" cy="5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b="true" sz="4588">
                <a:solidFill>
                  <a:srgbClr val="FDE4D4"/>
                </a:solidFill>
                <a:latin typeface="Raleway Heavy"/>
                <a:ea typeface="Raleway Heavy"/>
                <a:cs typeface="Raleway Heavy"/>
                <a:sym typeface="Raleway Heavy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73939" y="4162223"/>
            <a:ext cx="3410377" cy="43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b="true" sz="3583">
                <a:solidFill>
                  <a:srgbClr val="FDE4D4"/>
                </a:solidFill>
                <a:latin typeface="Raleway Heavy"/>
                <a:ea typeface="Raleway Heavy"/>
                <a:cs typeface="Raleway Heavy"/>
                <a:sym typeface="Raleway Heavy"/>
              </a:rPr>
              <a:t>LIBRARIES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3432" y="4953736"/>
            <a:ext cx="4134118" cy="167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783" indent="-260392" lvl="1">
              <a:lnSpc>
                <a:spcPts val="2677"/>
              </a:lnSpc>
              <a:buFont typeface="Arial"/>
              <a:buChar char="•"/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Spectrograms</a:t>
            </a:r>
          </a:p>
          <a:p>
            <a:pPr algn="l" marL="520783" indent="-260392" lvl="1">
              <a:lnSpc>
                <a:spcPts val="2677"/>
              </a:lnSpc>
              <a:buFont typeface="Arial"/>
              <a:buChar char="•"/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MFCCs</a:t>
            </a:r>
          </a:p>
          <a:p>
            <a:pPr algn="l" marL="520783" indent="-260392" lvl="1">
              <a:lnSpc>
                <a:spcPts val="2677"/>
              </a:lnSpc>
              <a:buFont typeface="Arial"/>
              <a:buChar char="•"/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Chromagrams</a:t>
            </a:r>
          </a:p>
          <a:p>
            <a:pPr algn="l" marL="520783" indent="-260392" lvl="1">
              <a:lnSpc>
                <a:spcPts val="2677"/>
              </a:lnSpc>
              <a:buFont typeface="Arial"/>
              <a:buChar char="•"/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Spectral contrast</a:t>
            </a:r>
          </a:p>
          <a:p>
            <a:pPr algn="l">
              <a:lnSpc>
                <a:spcPts val="267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912068" y="4953736"/>
            <a:ext cx="4134118" cy="66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Librosa, NumPy, Pandas, streamlit, plotly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51811" y="4953736"/>
            <a:ext cx="4134118" cy="200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0783" indent="-260392" lvl="1">
              <a:lnSpc>
                <a:spcPts val="2677"/>
              </a:lnSpc>
              <a:buFont typeface="Arial"/>
              <a:buChar char="•"/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Normalization</a:t>
            </a:r>
          </a:p>
          <a:p>
            <a:pPr algn="just" marL="520783" indent="-260392" lvl="1">
              <a:lnSpc>
                <a:spcPts val="2677"/>
              </a:lnSpc>
              <a:buFont typeface="Arial"/>
              <a:buChar char="•"/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Noise reduction</a:t>
            </a:r>
          </a:p>
          <a:p>
            <a:pPr algn="just" marL="520783" indent="-260392" lvl="1">
              <a:lnSpc>
                <a:spcPts val="2677"/>
              </a:lnSpc>
              <a:buFont typeface="Arial"/>
              <a:buChar char="•"/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Silence trimming</a:t>
            </a:r>
          </a:p>
          <a:p>
            <a:pPr algn="just" marL="520783" indent="-260392" lvl="1">
              <a:lnSpc>
                <a:spcPts val="2677"/>
              </a:lnSpc>
              <a:buFont typeface="Arial"/>
              <a:buChar char="•"/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Resampling to 22,050 Hz</a:t>
            </a:r>
          </a:p>
          <a:p>
            <a:pPr algn="just" marL="520783" indent="-260392" lvl="1">
              <a:lnSpc>
                <a:spcPts val="2677"/>
              </a:lnSpc>
              <a:buFont typeface="Arial"/>
              <a:buChar char="•"/>
            </a:pPr>
            <a:r>
              <a:rPr lang="en-US" b="true" sz="2412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Optional segmentation</a:t>
            </a:r>
          </a:p>
          <a:p>
            <a:pPr algn="just">
              <a:lnSpc>
                <a:spcPts val="2677"/>
              </a:lnSpc>
            </a:pPr>
          </a:p>
        </p:txBody>
      </p:sp>
    </p:spTree>
  </p:cSld>
  <p:clrMapOvr>
    <a:masterClrMapping/>
  </p:clrMapOvr>
  <p:transition spd="fast">
    <p:circl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85523" y="32560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2855" y="1228725"/>
            <a:ext cx="10122291" cy="73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1"/>
              </a:lnSpc>
            </a:pPr>
            <a:r>
              <a:rPr lang="en-US" b="true" sz="6158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3D VISUALIZATION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34327" y="3725154"/>
            <a:ext cx="2838434" cy="81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46"/>
              </a:lnSpc>
            </a:pPr>
            <a:r>
              <a:rPr lang="en-US" b="true" sz="2465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BIRD CALLS VISUALIZED AS 3D SPECTROGRAMS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82855" y="6571141"/>
            <a:ext cx="2902668" cy="55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46"/>
              </a:lnSpc>
            </a:pPr>
            <a:r>
              <a:rPr lang="en-US" b="true" sz="2465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AXES REPRESENTATION: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95588" y="3952909"/>
            <a:ext cx="2257117" cy="29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b="true" sz="2465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TOOLS USED: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323810" y="5720798"/>
            <a:ext cx="6053804" cy="4687546"/>
          </a:xfrm>
          <a:custGeom>
            <a:avLst/>
            <a:gdLst/>
            <a:ahLst/>
            <a:cxnLst/>
            <a:rect r="r" b="b" t="t" l="l"/>
            <a:pathLst>
              <a:path h="4687546" w="6053804">
                <a:moveTo>
                  <a:pt x="0" y="0"/>
                </a:moveTo>
                <a:lnTo>
                  <a:pt x="6053804" y="0"/>
                </a:lnTo>
                <a:lnTo>
                  <a:pt x="6053804" y="4687546"/>
                </a:lnTo>
                <a:lnTo>
                  <a:pt x="0" y="4687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87496" y="8352527"/>
            <a:ext cx="4676886" cy="3621380"/>
          </a:xfrm>
          <a:custGeom>
            <a:avLst/>
            <a:gdLst/>
            <a:ahLst/>
            <a:cxnLst/>
            <a:rect r="r" b="b" t="t" l="l"/>
            <a:pathLst>
              <a:path h="3621380" w="4676886">
                <a:moveTo>
                  <a:pt x="0" y="0"/>
                </a:moveTo>
                <a:lnTo>
                  <a:pt x="4676886" y="0"/>
                </a:lnTo>
                <a:lnTo>
                  <a:pt x="4676886" y="3621379"/>
                </a:lnTo>
                <a:lnTo>
                  <a:pt x="0" y="3621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13124" y="3035792"/>
            <a:ext cx="2280498" cy="2277651"/>
          </a:xfrm>
          <a:custGeom>
            <a:avLst/>
            <a:gdLst/>
            <a:ahLst/>
            <a:cxnLst/>
            <a:rect r="r" b="b" t="t" l="l"/>
            <a:pathLst>
              <a:path h="2277651" w="2280498">
                <a:moveTo>
                  <a:pt x="0" y="0"/>
                </a:moveTo>
                <a:lnTo>
                  <a:pt x="2280498" y="0"/>
                </a:lnTo>
                <a:lnTo>
                  <a:pt x="2280498" y="2277651"/>
                </a:lnTo>
                <a:lnTo>
                  <a:pt x="0" y="22776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22619" y="3876709"/>
            <a:ext cx="1952257" cy="1949820"/>
          </a:xfrm>
          <a:custGeom>
            <a:avLst/>
            <a:gdLst/>
            <a:ahLst/>
            <a:cxnLst/>
            <a:rect r="r" b="b" t="t" l="l"/>
            <a:pathLst>
              <a:path h="1949820" w="1952257">
                <a:moveTo>
                  <a:pt x="0" y="0"/>
                </a:moveTo>
                <a:lnTo>
                  <a:pt x="1952257" y="0"/>
                </a:lnTo>
                <a:lnTo>
                  <a:pt x="1952257" y="1949820"/>
                </a:lnTo>
                <a:lnTo>
                  <a:pt x="0" y="1949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8670" y="-255783"/>
            <a:ext cx="1395342" cy="1393600"/>
          </a:xfrm>
          <a:custGeom>
            <a:avLst/>
            <a:gdLst/>
            <a:ahLst/>
            <a:cxnLst/>
            <a:rect r="r" b="b" t="t" l="l"/>
            <a:pathLst>
              <a:path h="1393600" w="1395342">
                <a:moveTo>
                  <a:pt x="0" y="0"/>
                </a:moveTo>
                <a:lnTo>
                  <a:pt x="1395341" y="0"/>
                </a:lnTo>
                <a:lnTo>
                  <a:pt x="1395341" y="1393600"/>
                </a:lnTo>
                <a:lnTo>
                  <a:pt x="0" y="1393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69990" y="2251857"/>
            <a:ext cx="679815" cy="678966"/>
          </a:xfrm>
          <a:custGeom>
            <a:avLst/>
            <a:gdLst/>
            <a:ahLst/>
            <a:cxnLst/>
            <a:rect r="r" b="b" t="t" l="l"/>
            <a:pathLst>
              <a:path h="678966" w="679815">
                <a:moveTo>
                  <a:pt x="0" y="0"/>
                </a:moveTo>
                <a:lnTo>
                  <a:pt x="679815" y="0"/>
                </a:lnTo>
                <a:lnTo>
                  <a:pt x="679815" y="678966"/>
                </a:lnTo>
                <a:lnTo>
                  <a:pt x="0" y="6789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26846" y="6058343"/>
            <a:ext cx="1952257" cy="1949820"/>
          </a:xfrm>
          <a:custGeom>
            <a:avLst/>
            <a:gdLst/>
            <a:ahLst/>
            <a:cxnLst/>
            <a:rect r="r" b="b" t="t" l="l"/>
            <a:pathLst>
              <a:path h="1949820" w="1952257">
                <a:moveTo>
                  <a:pt x="0" y="0"/>
                </a:moveTo>
                <a:lnTo>
                  <a:pt x="1952257" y="0"/>
                </a:lnTo>
                <a:lnTo>
                  <a:pt x="1952257" y="1949819"/>
                </a:lnTo>
                <a:lnTo>
                  <a:pt x="0" y="1949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65355" y="5440403"/>
            <a:ext cx="561491" cy="560790"/>
          </a:xfrm>
          <a:custGeom>
            <a:avLst/>
            <a:gdLst/>
            <a:ahLst/>
            <a:cxnLst/>
            <a:rect r="r" b="b" t="t" l="l"/>
            <a:pathLst>
              <a:path h="560790" w="561491">
                <a:moveTo>
                  <a:pt x="0" y="0"/>
                </a:moveTo>
                <a:lnTo>
                  <a:pt x="561491" y="0"/>
                </a:lnTo>
                <a:lnTo>
                  <a:pt x="561491" y="560790"/>
                </a:lnTo>
                <a:lnTo>
                  <a:pt x="0" y="560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699291" y="3256043"/>
            <a:ext cx="561491" cy="560790"/>
          </a:xfrm>
          <a:custGeom>
            <a:avLst/>
            <a:gdLst/>
            <a:ahLst/>
            <a:cxnLst/>
            <a:rect r="r" b="b" t="t" l="l"/>
            <a:pathLst>
              <a:path h="560790" w="561491">
                <a:moveTo>
                  <a:pt x="0" y="0"/>
                </a:moveTo>
                <a:lnTo>
                  <a:pt x="561491" y="0"/>
                </a:lnTo>
                <a:lnTo>
                  <a:pt x="561491" y="560790"/>
                </a:lnTo>
                <a:lnTo>
                  <a:pt x="0" y="560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699291" y="6810053"/>
            <a:ext cx="561491" cy="560790"/>
          </a:xfrm>
          <a:custGeom>
            <a:avLst/>
            <a:gdLst/>
            <a:ahLst/>
            <a:cxnLst/>
            <a:rect r="r" b="b" t="t" l="l"/>
            <a:pathLst>
              <a:path h="560790" w="561491">
                <a:moveTo>
                  <a:pt x="0" y="0"/>
                </a:moveTo>
                <a:lnTo>
                  <a:pt x="561491" y="0"/>
                </a:lnTo>
                <a:lnTo>
                  <a:pt x="561491" y="560790"/>
                </a:lnTo>
                <a:lnTo>
                  <a:pt x="0" y="560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44755" y="7263524"/>
            <a:ext cx="2898016" cy="107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414656" indent="-207328" lvl="1">
              <a:lnSpc>
                <a:spcPts val="2131"/>
              </a:lnSpc>
              <a:buFont typeface="Arial"/>
              <a:buChar char="•"/>
            </a:pPr>
            <a:r>
              <a:rPr lang="en-US" b="true" sz="19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X-axis: Time</a:t>
            </a:r>
          </a:p>
          <a:p>
            <a:pPr algn="r" marL="414656" indent="-207328" lvl="1">
              <a:lnSpc>
                <a:spcPts val="2131"/>
              </a:lnSpc>
              <a:buFont typeface="Arial"/>
              <a:buChar char="•"/>
            </a:pPr>
            <a:r>
              <a:rPr lang="en-US" b="true" sz="19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Y-axis: Frequency</a:t>
            </a:r>
          </a:p>
          <a:p>
            <a:pPr algn="r" marL="414656" indent="-207328" lvl="1">
              <a:lnSpc>
                <a:spcPts val="2131"/>
              </a:lnSpc>
              <a:buFont typeface="Arial"/>
              <a:buChar char="•"/>
            </a:pPr>
            <a:r>
              <a:rPr lang="en-US" b="true" sz="19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Z-axis: Amplitude</a:t>
            </a:r>
          </a:p>
          <a:p>
            <a:pPr algn="r">
              <a:lnSpc>
                <a:spcPts val="2131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774876" y="4268806"/>
            <a:ext cx="2584484" cy="173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</a:pPr>
          </a:p>
          <a:p>
            <a:pPr algn="l" marL="391384" indent="-195692" lvl="1">
              <a:lnSpc>
                <a:spcPts val="2012"/>
              </a:lnSpc>
              <a:buFont typeface="Arial"/>
              <a:buChar char="•"/>
            </a:pPr>
            <a:r>
              <a:rPr lang="en-US" b="true" sz="1812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Matplotlib – static plots</a:t>
            </a:r>
          </a:p>
          <a:p>
            <a:pPr algn="l" marL="391384" indent="-195692" lvl="1">
              <a:lnSpc>
                <a:spcPts val="2012"/>
              </a:lnSpc>
              <a:buFont typeface="Arial"/>
              <a:buChar char="•"/>
            </a:pPr>
            <a:r>
              <a:rPr lang="en-US" b="true" sz="1812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Plotly – interactive (zoom, rotate, hover)</a:t>
            </a:r>
          </a:p>
          <a:p>
            <a:pPr algn="l">
              <a:lnSpc>
                <a:spcPts val="2012"/>
              </a:lnSpc>
            </a:pPr>
          </a:p>
        </p:txBody>
      </p:sp>
    </p:spTree>
  </p:cSld>
  <p:clrMapOvr>
    <a:masterClrMapping/>
  </p:clrMapOvr>
  <p:transition spd="fast">
    <p:circl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046639">
            <a:off x="936363" y="4097331"/>
            <a:ext cx="3698410" cy="2863731"/>
          </a:xfrm>
          <a:custGeom>
            <a:avLst/>
            <a:gdLst/>
            <a:ahLst/>
            <a:cxnLst/>
            <a:rect r="r" b="b" t="t" l="l"/>
            <a:pathLst>
              <a:path h="2863731" w="3698410">
                <a:moveTo>
                  <a:pt x="0" y="0"/>
                </a:moveTo>
                <a:lnTo>
                  <a:pt x="3698409" y="0"/>
                </a:lnTo>
                <a:lnTo>
                  <a:pt x="3698409" y="2863731"/>
                </a:lnTo>
                <a:lnTo>
                  <a:pt x="0" y="286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353139">
            <a:off x="13503936" y="3838324"/>
            <a:ext cx="3933930" cy="3046098"/>
          </a:xfrm>
          <a:custGeom>
            <a:avLst/>
            <a:gdLst/>
            <a:ahLst/>
            <a:cxnLst/>
            <a:rect r="r" b="b" t="t" l="l"/>
            <a:pathLst>
              <a:path h="3046098" w="3933930">
                <a:moveTo>
                  <a:pt x="3933930" y="0"/>
                </a:moveTo>
                <a:lnTo>
                  <a:pt x="0" y="0"/>
                </a:lnTo>
                <a:lnTo>
                  <a:pt x="0" y="3046098"/>
                </a:lnTo>
                <a:lnTo>
                  <a:pt x="3933930" y="3046098"/>
                </a:lnTo>
                <a:lnTo>
                  <a:pt x="39339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046639">
            <a:off x="1807436" y="3716677"/>
            <a:ext cx="2636235" cy="2041274"/>
          </a:xfrm>
          <a:custGeom>
            <a:avLst/>
            <a:gdLst/>
            <a:ahLst/>
            <a:cxnLst/>
            <a:rect r="r" b="b" t="t" l="l"/>
            <a:pathLst>
              <a:path h="2041274" w="2636235">
                <a:moveTo>
                  <a:pt x="0" y="0"/>
                </a:moveTo>
                <a:lnTo>
                  <a:pt x="2636235" y="0"/>
                </a:lnTo>
                <a:lnTo>
                  <a:pt x="2636235" y="2041274"/>
                </a:lnTo>
                <a:lnTo>
                  <a:pt x="0" y="2041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353139">
            <a:off x="13605081" y="3465241"/>
            <a:ext cx="2804114" cy="2171265"/>
          </a:xfrm>
          <a:custGeom>
            <a:avLst/>
            <a:gdLst/>
            <a:ahLst/>
            <a:cxnLst/>
            <a:rect r="r" b="b" t="t" l="l"/>
            <a:pathLst>
              <a:path h="2171265" w="2804114">
                <a:moveTo>
                  <a:pt x="2804114" y="0"/>
                </a:moveTo>
                <a:lnTo>
                  <a:pt x="0" y="0"/>
                </a:lnTo>
                <a:lnTo>
                  <a:pt x="0" y="2171265"/>
                </a:lnTo>
                <a:lnTo>
                  <a:pt x="2804114" y="2171265"/>
                </a:lnTo>
                <a:lnTo>
                  <a:pt x="28041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046639">
            <a:off x="1099535" y="3519986"/>
            <a:ext cx="555014" cy="554321"/>
          </a:xfrm>
          <a:custGeom>
            <a:avLst/>
            <a:gdLst/>
            <a:ahLst/>
            <a:cxnLst/>
            <a:rect r="r" b="b" t="t" l="l"/>
            <a:pathLst>
              <a:path h="554321" w="555014">
                <a:moveTo>
                  <a:pt x="0" y="0"/>
                </a:moveTo>
                <a:lnTo>
                  <a:pt x="555014" y="0"/>
                </a:lnTo>
                <a:lnTo>
                  <a:pt x="555014" y="554321"/>
                </a:lnTo>
                <a:lnTo>
                  <a:pt x="0" y="554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16891" y="3466287"/>
            <a:ext cx="1701522" cy="1699398"/>
          </a:xfrm>
          <a:custGeom>
            <a:avLst/>
            <a:gdLst/>
            <a:ahLst/>
            <a:cxnLst/>
            <a:rect r="r" b="b" t="t" l="l"/>
            <a:pathLst>
              <a:path h="1699398" w="1701522">
                <a:moveTo>
                  <a:pt x="0" y="0"/>
                </a:moveTo>
                <a:lnTo>
                  <a:pt x="1701522" y="0"/>
                </a:lnTo>
                <a:lnTo>
                  <a:pt x="1701522" y="1699398"/>
                </a:lnTo>
                <a:lnTo>
                  <a:pt x="0" y="16993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36294" y="3466287"/>
            <a:ext cx="1701522" cy="1699398"/>
          </a:xfrm>
          <a:custGeom>
            <a:avLst/>
            <a:gdLst/>
            <a:ahLst/>
            <a:cxnLst/>
            <a:rect r="r" b="b" t="t" l="l"/>
            <a:pathLst>
              <a:path h="1699398" w="1701522">
                <a:moveTo>
                  <a:pt x="0" y="0"/>
                </a:moveTo>
                <a:lnTo>
                  <a:pt x="1701522" y="0"/>
                </a:lnTo>
                <a:lnTo>
                  <a:pt x="1701522" y="1699398"/>
                </a:lnTo>
                <a:lnTo>
                  <a:pt x="0" y="16993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55697" y="3466287"/>
            <a:ext cx="1701522" cy="1699398"/>
          </a:xfrm>
          <a:custGeom>
            <a:avLst/>
            <a:gdLst/>
            <a:ahLst/>
            <a:cxnLst/>
            <a:rect r="r" b="b" t="t" l="l"/>
            <a:pathLst>
              <a:path h="1699398" w="1701522">
                <a:moveTo>
                  <a:pt x="0" y="0"/>
                </a:moveTo>
                <a:lnTo>
                  <a:pt x="1701522" y="0"/>
                </a:lnTo>
                <a:lnTo>
                  <a:pt x="1701522" y="1699398"/>
                </a:lnTo>
                <a:lnTo>
                  <a:pt x="0" y="16993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353139">
            <a:off x="16503952" y="3098131"/>
            <a:ext cx="590358" cy="589621"/>
          </a:xfrm>
          <a:custGeom>
            <a:avLst/>
            <a:gdLst/>
            <a:ahLst/>
            <a:cxnLst/>
            <a:rect r="r" b="b" t="t" l="l"/>
            <a:pathLst>
              <a:path h="589621" w="590358">
                <a:moveTo>
                  <a:pt x="0" y="0"/>
                </a:moveTo>
                <a:lnTo>
                  <a:pt x="590358" y="0"/>
                </a:lnTo>
                <a:lnTo>
                  <a:pt x="590358" y="589621"/>
                </a:lnTo>
                <a:lnTo>
                  <a:pt x="0" y="5896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046639">
            <a:off x="1913073" y="3141303"/>
            <a:ext cx="413448" cy="412932"/>
          </a:xfrm>
          <a:custGeom>
            <a:avLst/>
            <a:gdLst/>
            <a:ahLst/>
            <a:cxnLst/>
            <a:rect r="r" b="b" t="t" l="l"/>
            <a:pathLst>
              <a:path h="412932" w="413448">
                <a:moveTo>
                  <a:pt x="0" y="0"/>
                </a:moveTo>
                <a:lnTo>
                  <a:pt x="413448" y="0"/>
                </a:lnTo>
                <a:lnTo>
                  <a:pt x="413448" y="412932"/>
                </a:lnTo>
                <a:lnTo>
                  <a:pt x="0" y="4129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353139">
            <a:off x="15717387" y="2984826"/>
            <a:ext cx="439777" cy="439228"/>
          </a:xfrm>
          <a:custGeom>
            <a:avLst/>
            <a:gdLst/>
            <a:ahLst/>
            <a:cxnLst/>
            <a:rect r="r" b="b" t="t" l="l"/>
            <a:pathLst>
              <a:path h="439228" w="439777">
                <a:moveTo>
                  <a:pt x="0" y="0"/>
                </a:moveTo>
                <a:lnTo>
                  <a:pt x="439777" y="0"/>
                </a:lnTo>
                <a:lnTo>
                  <a:pt x="439777" y="439228"/>
                </a:lnTo>
                <a:lnTo>
                  <a:pt x="0" y="4392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40100" y="1228725"/>
            <a:ext cx="7493910" cy="203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1"/>
              </a:lnSpc>
            </a:pPr>
            <a:r>
              <a:rPr lang="en-US" b="true" sz="6158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RESULTS, LIMITATIONS &amp; FUTURE 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44750" y="5441154"/>
            <a:ext cx="2445803" cy="359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2020" b="true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Key Results</a:t>
            </a:r>
          </a:p>
          <a:p>
            <a:pPr algn="ctr">
              <a:lnSpc>
                <a:spcPts val="2242"/>
              </a:lnSpc>
            </a:pP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Successful 3D visualization of bird calls</a:t>
            </a: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Species-specific acoustic patterns observed</a:t>
            </a: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Functional AI-based classifier implemented</a:t>
            </a:r>
          </a:p>
          <a:p>
            <a:pPr algn="l">
              <a:lnSpc>
                <a:spcPts val="224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064153" y="5441154"/>
            <a:ext cx="2445803" cy="331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2020" b="true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Limitations</a:t>
            </a:r>
          </a:p>
          <a:p>
            <a:pPr algn="ctr">
              <a:lnSpc>
                <a:spcPts val="2242"/>
              </a:lnSpc>
            </a:pP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Synthetic data may not reflect </a:t>
            </a: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real-world complexity</a:t>
            </a: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Small dataset size</a:t>
            </a: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High computation for large audio files</a:t>
            </a:r>
          </a:p>
          <a:p>
            <a:pPr algn="l">
              <a:lnSpc>
                <a:spcPts val="224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683556" y="5441154"/>
            <a:ext cx="2445803" cy="331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2020" b="true">
                <a:solidFill>
                  <a:srgbClr val="642636"/>
                </a:solidFill>
                <a:latin typeface="Livvic Bold"/>
                <a:ea typeface="Livvic Bold"/>
                <a:cs typeface="Livvic Bold"/>
                <a:sym typeface="Livvic Bold"/>
              </a:rPr>
              <a:t>Future Work</a:t>
            </a:r>
          </a:p>
          <a:p>
            <a:pPr algn="ctr">
              <a:lnSpc>
                <a:spcPts val="2242"/>
              </a:lnSpc>
            </a:pP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Use </a:t>
            </a: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real-world datasets (Xeno-canto)</a:t>
            </a: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Deep learning models (CNNs)</a:t>
            </a: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Real-time audio processing</a:t>
            </a:r>
          </a:p>
          <a:p>
            <a:pPr algn="l" marL="436245" indent="-218123" lvl="1">
              <a:lnSpc>
                <a:spcPts val="2242"/>
              </a:lnSpc>
              <a:buFont typeface="Arial"/>
              <a:buChar char="•"/>
            </a:pPr>
            <a:r>
              <a:rPr lang="en-US" b="true" sz="2020">
                <a:solidFill>
                  <a:srgbClr val="642636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Improved noise reduction</a:t>
            </a:r>
          </a:p>
          <a:p>
            <a:pPr algn="l">
              <a:lnSpc>
                <a:spcPts val="2242"/>
              </a:lnSpc>
            </a:pPr>
          </a:p>
        </p:txBody>
      </p:sp>
    </p:spTree>
  </p:cSld>
  <p:clrMapOvr>
    <a:masterClrMapping/>
  </p:clrMapOvr>
  <p:transition spd="fast">
    <p:circl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99333" y="-1038705"/>
            <a:ext cx="5314122" cy="4114800"/>
          </a:xfrm>
          <a:custGeom>
            <a:avLst/>
            <a:gdLst/>
            <a:ahLst/>
            <a:cxnLst/>
            <a:rect r="r" b="b" t="t" l="l"/>
            <a:pathLst>
              <a:path h="4114800" w="5314122">
                <a:moveTo>
                  <a:pt x="0" y="0"/>
                </a:moveTo>
                <a:lnTo>
                  <a:pt x="5314122" y="0"/>
                </a:lnTo>
                <a:lnTo>
                  <a:pt x="53141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97922" y="5532563"/>
            <a:ext cx="2688818" cy="2081990"/>
          </a:xfrm>
          <a:custGeom>
            <a:avLst/>
            <a:gdLst/>
            <a:ahLst/>
            <a:cxnLst/>
            <a:rect r="r" b="b" t="t" l="l"/>
            <a:pathLst>
              <a:path h="2081990" w="2688818">
                <a:moveTo>
                  <a:pt x="0" y="0"/>
                </a:moveTo>
                <a:lnTo>
                  <a:pt x="2688818" y="0"/>
                </a:lnTo>
                <a:lnTo>
                  <a:pt x="2688818" y="2081990"/>
                </a:lnTo>
                <a:lnTo>
                  <a:pt x="0" y="2081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39420" y="2544806"/>
            <a:ext cx="2906400" cy="2250467"/>
          </a:xfrm>
          <a:custGeom>
            <a:avLst/>
            <a:gdLst/>
            <a:ahLst/>
            <a:cxnLst/>
            <a:rect r="r" b="b" t="t" l="l"/>
            <a:pathLst>
              <a:path h="2250467" w="2906400">
                <a:moveTo>
                  <a:pt x="0" y="0"/>
                </a:moveTo>
                <a:lnTo>
                  <a:pt x="2906400" y="0"/>
                </a:lnTo>
                <a:lnTo>
                  <a:pt x="2906400" y="2250467"/>
                </a:lnTo>
                <a:lnTo>
                  <a:pt x="0" y="2250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45329" y="7075523"/>
            <a:ext cx="5250608" cy="4065621"/>
          </a:xfrm>
          <a:custGeom>
            <a:avLst/>
            <a:gdLst/>
            <a:ahLst/>
            <a:cxnLst/>
            <a:rect r="r" b="b" t="t" l="l"/>
            <a:pathLst>
              <a:path h="4065621" w="5250608">
                <a:moveTo>
                  <a:pt x="0" y="0"/>
                </a:moveTo>
                <a:lnTo>
                  <a:pt x="5250608" y="0"/>
                </a:lnTo>
                <a:lnTo>
                  <a:pt x="5250608" y="4065620"/>
                </a:lnTo>
                <a:lnTo>
                  <a:pt x="0" y="40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88269" y="2410830"/>
            <a:ext cx="801238" cy="800238"/>
          </a:xfrm>
          <a:custGeom>
            <a:avLst/>
            <a:gdLst/>
            <a:ahLst/>
            <a:cxnLst/>
            <a:rect r="r" b="b" t="t" l="l"/>
            <a:pathLst>
              <a:path h="800238" w="801238">
                <a:moveTo>
                  <a:pt x="0" y="0"/>
                </a:moveTo>
                <a:lnTo>
                  <a:pt x="801238" y="0"/>
                </a:lnTo>
                <a:lnTo>
                  <a:pt x="801238" y="800238"/>
                </a:lnTo>
                <a:lnTo>
                  <a:pt x="0" y="800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04846" y="3795746"/>
            <a:ext cx="1240482" cy="1238934"/>
          </a:xfrm>
          <a:custGeom>
            <a:avLst/>
            <a:gdLst/>
            <a:ahLst/>
            <a:cxnLst/>
            <a:rect r="r" b="b" t="t" l="l"/>
            <a:pathLst>
              <a:path h="1238934" w="1240482">
                <a:moveTo>
                  <a:pt x="0" y="0"/>
                </a:moveTo>
                <a:lnTo>
                  <a:pt x="1240483" y="0"/>
                </a:lnTo>
                <a:lnTo>
                  <a:pt x="1240483" y="1238934"/>
                </a:lnTo>
                <a:lnTo>
                  <a:pt x="0" y="1238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9854" y="7499084"/>
            <a:ext cx="2218068" cy="2215299"/>
          </a:xfrm>
          <a:custGeom>
            <a:avLst/>
            <a:gdLst/>
            <a:ahLst/>
            <a:cxnLst/>
            <a:rect r="r" b="b" t="t" l="l"/>
            <a:pathLst>
              <a:path h="2215299" w="2218068">
                <a:moveTo>
                  <a:pt x="0" y="0"/>
                </a:moveTo>
                <a:lnTo>
                  <a:pt x="2218068" y="0"/>
                </a:lnTo>
                <a:lnTo>
                  <a:pt x="2218068" y="2215299"/>
                </a:lnTo>
                <a:lnTo>
                  <a:pt x="0" y="2215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18227" y="5482776"/>
            <a:ext cx="1327594" cy="1325936"/>
          </a:xfrm>
          <a:custGeom>
            <a:avLst/>
            <a:gdLst/>
            <a:ahLst/>
            <a:cxnLst/>
            <a:rect r="r" b="b" t="t" l="l"/>
            <a:pathLst>
              <a:path h="1325936" w="1327594">
                <a:moveTo>
                  <a:pt x="0" y="0"/>
                </a:moveTo>
                <a:lnTo>
                  <a:pt x="1327593" y="0"/>
                </a:lnTo>
                <a:lnTo>
                  <a:pt x="1327593" y="1325937"/>
                </a:lnTo>
                <a:lnTo>
                  <a:pt x="0" y="13259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90787" y="7075523"/>
            <a:ext cx="768513" cy="767554"/>
          </a:xfrm>
          <a:custGeom>
            <a:avLst/>
            <a:gdLst/>
            <a:ahLst/>
            <a:cxnLst/>
            <a:rect r="r" b="b" t="t" l="l"/>
            <a:pathLst>
              <a:path h="767554" w="768513">
                <a:moveTo>
                  <a:pt x="0" y="0"/>
                </a:moveTo>
                <a:lnTo>
                  <a:pt x="768513" y="0"/>
                </a:lnTo>
                <a:lnTo>
                  <a:pt x="768513" y="767554"/>
                </a:lnTo>
                <a:lnTo>
                  <a:pt x="0" y="767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589526" y="493340"/>
            <a:ext cx="2054031" cy="2051467"/>
          </a:xfrm>
          <a:custGeom>
            <a:avLst/>
            <a:gdLst/>
            <a:ahLst/>
            <a:cxnLst/>
            <a:rect r="r" b="b" t="t" l="l"/>
            <a:pathLst>
              <a:path h="2051467" w="2054031">
                <a:moveTo>
                  <a:pt x="0" y="0"/>
                </a:moveTo>
                <a:lnTo>
                  <a:pt x="2054031" y="0"/>
                </a:lnTo>
                <a:lnTo>
                  <a:pt x="2054031" y="2051466"/>
                </a:lnTo>
                <a:lnTo>
                  <a:pt x="0" y="20514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64820" y="4068932"/>
            <a:ext cx="7558361" cy="228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3"/>
              </a:lnSpc>
            </a:pPr>
            <a:r>
              <a:rPr lang="en-US" b="true" sz="10293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THANK</a:t>
            </a:r>
          </a:p>
          <a:p>
            <a:pPr algn="ctr">
              <a:lnSpc>
                <a:spcPts val="8543"/>
              </a:lnSpc>
            </a:pPr>
            <a:r>
              <a:rPr lang="en-US" b="true" sz="10293">
                <a:solidFill>
                  <a:srgbClr val="642636"/>
                </a:solidFill>
                <a:latin typeface="Raleway Heavy"/>
                <a:ea typeface="Raleway Heavy"/>
                <a:cs typeface="Raleway Heavy"/>
                <a:sym typeface="Raleway Heavy"/>
              </a:rPr>
              <a:t>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86740" y="6250520"/>
            <a:ext cx="6114520" cy="32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b="true" sz="2820">
                <a:solidFill>
                  <a:srgbClr val="584B41"/>
                </a:solidFill>
                <a:latin typeface="Livvic Semi-Bold"/>
                <a:ea typeface="Livvic Semi-Bold"/>
                <a:cs typeface="Livvic Semi-Bold"/>
                <a:sym typeface="Livvic Semi-Bold"/>
              </a:rPr>
              <a:t>Any Questions?</a:t>
            </a:r>
          </a:p>
        </p:txBody>
      </p:sp>
    </p:spTree>
  </p:cSld>
  <p:clrMapOvr>
    <a:masterClrMapping/>
  </p:clrMapOvr>
  <p:transition spd="fast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DAG7pceVW1o</dc:identifier>
  <dcterms:modified xsi:type="dcterms:W3CDTF">2011-08-01T06:04:30Z</dcterms:modified>
  <cp:revision>1</cp:revision>
  <dc:title>Beige Creative Market Research Presentation</dc:title>
</cp:coreProperties>
</file>